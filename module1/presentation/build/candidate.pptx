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d2ea60ffb74093" /><Relationship Type="http://schemas.openxmlformats.org/officeDocument/2006/relationships/extended-properties" Target="/docProps/app.xml" Id="R200d9e80dbd54769" /><Relationship Type="http://schemas.openxmlformats.org/officeDocument/2006/relationships/officeDocument" Target="/ppt/presentation.xml" Id="R311fa8e4d20043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f9bbb06dec4725"/>
  </p:sldMasterIdLst>
  <p:notesMasterIdLst>
    <p:notesMasterId xmlns:r="http://schemas.openxmlformats.org/officeDocument/2006/relationships" r:id="Rd36b429727d4450b"/>
  </p:notesMasterIdLst>
  <p:sldIdLst>
    <p:sldId xmlns:r="http://schemas.openxmlformats.org/officeDocument/2006/relationships" id="256" r:id="R4bf28c5fe38c42e1"/>
    <p:sldId xmlns:r="http://schemas.openxmlformats.org/officeDocument/2006/relationships" id="257" r:id="Rec49f31ffcf649a8"/>
    <p:sldId xmlns:r="http://schemas.openxmlformats.org/officeDocument/2006/relationships" id="258" r:id="Rf5dacac9f57a4244"/>
    <p:sldId xmlns:r="http://schemas.openxmlformats.org/officeDocument/2006/relationships" id="259" r:id="R66d807f965384006"/>
    <p:sldId xmlns:r="http://schemas.openxmlformats.org/officeDocument/2006/relationships" id="260" r:id="R05d9c0e80d3d4ef5"/>
    <p:sldId xmlns:r="http://schemas.openxmlformats.org/officeDocument/2006/relationships" id="261" r:id="R624bed9876744138"/>
    <p:sldId xmlns:r="http://schemas.openxmlformats.org/officeDocument/2006/relationships" id="262" r:id="R2ec5191ffaf34d0b"/>
    <p:sldId xmlns:r="http://schemas.openxmlformats.org/officeDocument/2006/relationships" id="263" r:id="Rdad7d0ebc2f4439c"/>
    <p:sldId xmlns:r="http://schemas.openxmlformats.org/officeDocument/2006/relationships" id="264" r:id="Reddebea42f40401d"/>
    <p:sldId xmlns:r="http://schemas.openxmlformats.org/officeDocument/2006/relationships" id="265" r:id="R1abeea2e0c5844a9"/>
    <p:sldId xmlns:r="http://schemas.openxmlformats.org/officeDocument/2006/relationships" id="266" r:id="Rdc505fec457849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89af0b23f04752" /><Relationship Type="http://schemas.openxmlformats.org/officeDocument/2006/relationships/slideMaster" Target="/ppt/slideMasters/slideMaster1.xml" Id="Rc9f9bbb06dec4725" /><Relationship Type="http://schemas.openxmlformats.org/officeDocument/2006/relationships/notesMaster" Target="/ppt/notesMasters/notesMaster1.xml" Id="Rd36b429727d4450b" /><Relationship Type="http://schemas.openxmlformats.org/officeDocument/2006/relationships/presProps" Target="/ppt/presProps.xml" Id="R1953066a056f4261" /><Relationship Type="http://schemas.openxmlformats.org/officeDocument/2006/relationships/tableStyles" Target="/ppt/tableStyles.xml" Id="R7e720f8a65974ab4" /><Relationship Type="http://schemas.openxmlformats.org/officeDocument/2006/relationships/slide" Target="/ppt/slides/slide1.xml" Id="R4bf28c5fe38c42e1" /><Relationship Type="http://schemas.openxmlformats.org/officeDocument/2006/relationships/slide" Target="/ppt/slides/slide2.xml" Id="Rec49f31ffcf649a8" /><Relationship Type="http://schemas.openxmlformats.org/officeDocument/2006/relationships/slide" Target="/ppt/slides/slide3.xml" Id="Rf5dacac9f57a4244" /><Relationship Type="http://schemas.openxmlformats.org/officeDocument/2006/relationships/slide" Target="/ppt/slides/slide4.xml" Id="R66d807f965384006" /><Relationship Type="http://schemas.openxmlformats.org/officeDocument/2006/relationships/slide" Target="/ppt/slides/slide5.xml" Id="R05d9c0e80d3d4ef5" /><Relationship Type="http://schemas.openxmlformats.org/officeDocument/2006/relationships/slide" Target="/ppt/slides/slide6.xml" Id="R624bed9876744138" /><Relationship Type="http://schemas.openxmlformats.org/officeDocument/2006/relationships/slide" Target="/ppt/slides/slide7.xml" Id="R2ec5191ffaf34d0b" /><Relationship Type="http://schemas.openxmlformats.org/officeDocument/2006/relationships/slide" Target="/ppt/slides/slide8.xml" Id="Rdad7d0ebc2f4439c" /><Relationship Type="http://schemas.openxmlformats.org/officeDocument/2006/relationships/slide" Target="/ppt/slides/slide9.xml" Id="Reddebea42f40401d" /><Relationship Type="http://schemas.openxmlformats.org/officeDocument/2006/relationships/slide" Target="/ppt/slides/slide10.xml" Id="R1abeea2e0c5844a9" /><Relationship Type="http://schemas.openxmlformats.org/officeDocument/2006/relationships/slide" Target="/ppt/slides/slide11.xml" Id="Rdc505fec457849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e1c3919ca64e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f4ac3ed4944ed9" /><Relationship Type="http://schemas.openxmlformats.org/officeDocument/2006/relationships/notesMaster" Target="/ppt/notesMasters/notesMaster1.xml" Id="R6adcf712b11742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f4660312634722" /><Relationship Type="http://schemas.openxmlformats.org/officeDocument/2006/relationships/notesMaster" Target="/ppt/notesMasters/notesMaster1.xml" Id="R7ebdf564787746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5093ab71bc4a6f" /><Relationship Type="http://schemas.openxmlformats.org/officeDocument/2006/relationships/notesMaster" Target="/ppt/notesMasters/notesMaster1.xml" Id="R1a81461dc4214c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944a924b8541c0" /><Relationship Type="http://schemas.openxmlformats.org/officeDocument/2006/relationships/notesMaster" Target="/ppt/notesMasters/notesMaster1.xml" Id="R2b29a0e0f9e541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33273407014e0a" /><Relationship Type="http://schemas.openxmlformats.org/officeDocument/2006/relationships/notesMaster" Target="/ppt/notesMasters/notesMaster1.xml" Id="R54c0cf28168948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3263fe432e4fbd" /><Relationship Type="http://schemas.openxmlformats.org/officeDocument/2006/relationships/notesMaster" Target="/ppt/notesMasters/notesMaster1.xml" Id="R755cc8eecbbe44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c1a0a2ad9b4ccc" /><Relationship Type="http://schemas.openxmlformats.org/officeDocument/2006/relationships/notesMaster" Target="/ppt/notesMasters/notesMaster1.xml" Id="R1fb280c2295d4d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fcef2866bd4d34" /><Relationship Type="http://schemas.openxmlformats.org/officeDocument/2006/relationships/notesMaster" Target="/ppt/notesMasters/notesMaster1.xml" Id="R2549a6471ebb44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cbbdc896e94029" /><Relationship Type="http://schemas.openxmlformats.org/officeDocument/2006/relationships/notesMaster" Target="/ppt/notesMasters/notesMaster1.xml" Id="R06ad0afab17741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804c96b6d14759" /><Relationship Type="http://schemas.openxmlformats.org/officeDocument/2006/relationships/notesMaster" Target="/ppt/notesMasters/notesMaster1.xml" Id="R02d1df9db41348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be7cb5e6b44662" /><Relationship Type="http://schemas.openxmlformats.org/officeDocument/2006/relationships/notesMaster" Target="/ppt/notesMasters/notesMaster1.xml" Id="Ra3282ee4498c4a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事实来源：module1/README.md、module1/defects/repro-baseline.txt、module1/defects/repro-fixed.txt、module1/reports/附录3-测试报告-模块一.docx。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8399ef79de4e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ed48f5922c4fe7" /><Relationship Type="http://schemas.openxmlformats.org/officeDocument/2006/relationships/slideLayout" Target="/ppt/slideLayouts/slideLayout1.xml" Id="R4fb52a5c34f14c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b52a5c34f14c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a0eb29ade4848" /><Relationship Type="http://schemas.openxmlformats.org/officeDocument/2006/relationships/notesSlide" Target="/ppt/notesSlides/notesSlide1.xml" Id="R4d24e27f55ac47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cd8f77d074cdf" /><Relationship Type="http://schemas.openxmlformats.org/officeDocument/2006/relationships/notesSlide" Target="/ppt/notesSlides/notesSlide2.xml" Id="R5b6ea68ff0ef47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b786271f864d6e" /><Relationship Type="http://schemas.openxmlformats.org/officeDocument/2006/relationships/notesSlide" Target="/ppt/notesSlides/notesSlide3.xml" Id="R46bafeef6ef145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685b766d34a59" /><Relationship Type="http://schemas.openxmlformats.org/officeDocument/2006/relationships/notesSlide" Target="/ppt/notesSlides/notesSlide4.xml" Id="R9561a590ca0248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d3bbe4c2149b9" /><Relationship Type="http://schemas.openxmlformats.org/officeDocument/2006/relationships/notesSlide" Target="/ppt/notesSlides/notesSlide5.xml" Id="R448993a57d104a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cf05230de4417" /><Relationship Type="http://schemas.openxmlformats.org/officeDocument/2006/relationships/notesSlide" Target="/ppt/notesSlides/notesSlide6.xml" Id="R9f6050fc051940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8b35fc6bb4495" /><Relationship Type="http://schemas.openxmlformats.org/officeDocument/2006/relationships/notesSlide" Target="/ppt/notesSlides/notesSlide7.xml" Id="Re0cef25a7d514e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3e915e7a1c48fd" /><Relationship Type="http://schemas.openxmlformats.org/officeDocument/2006/relationships/notesSlide" Target="/ppt/notesSlides/notesSlide8.xml" Id="R19b5b36d43cd40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2131c67a94415" /><Relationship Type="http://schemas.openxmlformats.org/officeDocument/2006/relationships/notesSlide" Target="/ppt/notesSlides/notesSlide9.xml" Id="R6eea516cae9b47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5cabf6c014dfb" /><Relationship Type="http://schemas.openxmlformats.org/officeDocument/2006/relationships/notesSlide" Target="/ppt/notesSlides/notesSlide10.xml" Id="R7e65234bc3ff4c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994cc00b0475f" /><Relationship Type="http://schemas.openxmlformats.org/officeDocument/2006/relationships/notesSlide" Target="/ppt/notesSlides/notesSlide11.xml" Id="Rc871f8f4dd1845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5C8C4-9DBE-40BC-AC2B-4F756C1A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STSong"/>
                <a:ea typeface="STSong"/>
                <a:cs typeface="STSong"/>
              </a:defRPr>
            </a:pPr>
            <a:r>
              <a:rPr sz="3150" b="1">
                <a:solidFill>
                  <a:srgbClr val="FFFFFF"/>
                </a:solidFill>
                <a:latin typeface="STSong"/>
                <a:ea typeface="STSong"/>
                <a:cs typeface="STSong"/>
              </a:rPr>
              <a:t>模块一：测试基础实践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A602D7-6DF1-4CF3-8F95-1DD2BB09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EE3F8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BEE3F8"/>
                </a:solidFill>
                <a:latin typeface="STSong"/>
                <a:ea typeface="STSong"/>
                <a:cs typeface="STSong"/>
              </a:rPr>
              <a:t>croniter 6.2.2 · 课程成果汇报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0AE7C-05C5-4775-B2BB-D6CDD570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FFFFF"/>
                </a:solidFill>
                <a:latin typeface="STSong"/>
                <a:ea typeface="STSong"/>
                <a:cs typeface="STSong"/>
              </a:defRPr>
            </a:pPr>
            <a:r>
              <a:rPr sz="2100">
                <a:solidFill>
                  <a:srgbClr val="FFFFFF"/>
                </a:solidFill>
                <a:latin typeface="STSong"/>
                <a:ea typeface="STSong"/>
                <a:cs typeface="STSong"/>
              </a:rPr>
              <a:t>41 passed · 36 条测试用例 · 3 个公开历史缺陷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AFCA5-AC17-4C29-AEAC-C8D8789E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EE3F8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BEE3F8"/>
                </a:solidFill>
                <a:latin typeface="STSong"/>
                <a:ea typeface="STSong"/>
                <a:cs typeface="STSong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718258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900A0-8ACB-41B4-81D6-136DBA9E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被测对象：croniter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93EE4-10EB-448D-AD58-FA7C3A88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Python cron 表达式迭代库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88AA8-4068-4233-B6C8-5CF8E814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核心接口：croniter()、get_next()、get_prev()、match_range()、croniter_range()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基线：上游 6.2.2；缺陷修复在本地分支完成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13141-1C1A-4F74-8409-0ED4121B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853386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CA37C-B3C4-40B1-AFF1-7C0DF42F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风险地图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EA9DE-83B1-4B0B-839F-8F89D3E2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时间表达式的错误会直接改变任务触发时刻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311C1-40A0-40AD-B4F0-0B1B369F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解析输入：字段数量、范围、步长、非法值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时间边界：月末、闰年、跨年、星期日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状态行为：连续 next/prev、区间枚举、时区感知 datetime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BBC9F-83BD-409C-9450-24A6E43F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786657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6227D-2E76-4FB9-B4C6-7E29DEC3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测试策略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21F73-F227-4227-9E82-F87C7880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用例设计覆盖输入类别与时间边界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6DBCA-FAD8-4148-B6FA-E894C1A5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等价类：12 条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边界值：12 条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场景与状态转换：8 条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异常与回归：4 条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共 36 条，自动化执行比例超过 80%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D6400-3102-4495-B7E5-18925ADD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337939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9BEF9-747E-4664-B870-D1F4331F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自动化执行路径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1D944-B645-49F5-B60E-8CF3C442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一条命令把清单变成可重复证据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9412B-D266-47C0-96C2-B89FF018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pytest 参数化数据驱动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fixture 统一时间与时区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smoke / boundary / regression 标记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运行：python -m pytest -q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8528A-061C-41E7-8D59-98FA93C1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694378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040FA-67AA-490E-AC5F-6950E66E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用例清单结构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FA017-3118-4E4D-A084-7588304C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每条用例都能追溯到函数和结果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5611F-D45D-4A96-A312-5852D6D3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编号 CRON-UT-001～036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字段包含：输入、步骤、预期、实际、状态、设计方法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测试数据保存在 testdata/cron_cases.json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清单模板：附录1-测试用例清单.xlsx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ECD12-F320-41AA-9935-59F98F4E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382030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490793-852B-497B-833B-6E4F95E7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缺陷复现：零步长范围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66E31-30E8-4F88-872F-985B8B36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基线版本接受了不应接受的步长输入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5F85A5-85AA-4FDB-AE4B-6912E859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表达式：5-5/0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基线 6.2.2：行为异常，未稳定拒绝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修复：07dfad8 增加步长校验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回归：零步长稳定抛出异常，合法步长继续通过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C0B37-867F-4557-B453-D633D573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955268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96F0FF-E7FA-4867-9115-E9AC13F2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缺陷闭环：月份与 Sunday 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69D21A-0635-44F0-8E4F-5F39B6E7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公开记录提供证据，本地回归证明修复有效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B39D2-CBDC-46AC-905A-1FEF443D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月份边界：issue #235，对应修复 101f39e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Sunday 步进：issue #239，对应修复 10e9bb6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分别覆盖 1 月、12 月、跨年和 Saturday→Sunday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28F8F-DF1E-4399-91FF-E8C62B98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005329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08596-9749-4A30-8289-9B4725B6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执行结果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3C495-AC39-41AB-AE0E-7291317F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测试通过，覆盖率用于定位后续风险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1480A-13F7-47F4-8B45-DC9294E4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41 passed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覆盖率：55%（当前结果，如实记录）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三项历史缺陷均完成复现、修复和回归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未把覆盖率当作质量结论，后续补充未覆盖分支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45A38-EACF-447C-8004-F5464C67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717549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19D45-75AB-451E-BC7C-4411127E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现场演示流程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EC4BC-7CD7-4196-AB0D-F5F1D126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从安装到回归，展示证据链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2D77E2-C678-4AC9-8C45-4555A8B3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1 进入 module1 并安装依赖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2 运行 pytest，展示 41 passed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3 切换基线复现缺陷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4 应用修复提交并运行回归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5 打开 Excel、缺陷报告和测试报告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A49A6-10FC-4F18-A270-972FF857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63719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EAE4E-840C-4AC3-8A49-451B7965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STSong"/>
                <a:ea typeface="STSong"/>
                <a:cs typeface="STSong"/>
              </a:defRPr>
            </a:pPr>
            <a:r>
              <a:rPr sz="2550" b="1">
                <a:solidFill>
                  <a:srgbClr val="102A43"/>
                </a:solidFill>
                <a:latin typeface="STSong"/>
                <a:ea typeface="STSong"/>
                <a:cs typeface="STSong"/>
              </a:rPr>
              <a:t>结论与交付物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904E8-19AC-460B-9782-56FEB8AA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  <a:latin typeface="STSong"/>
                <a:ea typeface="STSong"/>
                <a:cs typeface="STSong"/>
              </a:defRPr>
            </a:pPr>
            <a:r>
              <a:rPr sz="1800" b="1">
                <a:solidFill>
                  <a:srgbClr val="0B7285"/>
                </a:solidFill>
                <a:latin typeface="STSong"/>
                <a:ea typeface="STSong"/>
                <a:cs typeface="STSong"/>
              </a:rPr>
              <a:t>模块一形成可复现、可追溯的测试实践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EBD78-69C6-4921-8ACB-4C55E38C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00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36 条清单与自动化脚本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3 个公开历史缺陷的复现、修复、回归证据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附录1、附录2、附录3 与 README</a:t>
            </a:r>
          </a:p>
          <a:p xmlns:a="http://schemas.openxmlformats.org/drawingml/2006/main">
            <a:pPr>
              <a:defRPr sz="2250">
                <a:solidFill>
                  <a:srgbClr val="243B53"/>
                </a:solidFill>
                <a:latin typeface="STSong"/>
                <a:ea typeface="STSong"/>
                <a:cs typeface="STSong"/>
              </a:defRPr>
            </a:pPr>
            <a:r>
              <a:rPr sz="2250">
                <a:solidFill>
                  <a:srgbClr val="243B53"/>
                </a:solidFill>
                <a:latin typeface="STSong"/>
                <a:ea typeface="STSong"/>
                <a:cs typeface="STSong"/>
              </a:rPr>
              <a:t>演示入口：module1/presentation/演示视频脚本.md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5542A-3913-4B2D-819D-5E582895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8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29AB1"/>
                </a:solidFill>
                <a:latin typeface="STSong"/>
                <a:ea typeface="STSong"/>
                <a:cs typeface="STSong"/>
              </a:defRPr>
            </a:pPr>
            <a:r>
              <a:rPr sz="1200">
                <a:solidFill>
                  <a:srgbClr val="829AB1"/>
                </a:solidFill>
                <a:latin typeface="STSong"/>
                <a:ea typeface="STSong"/>
                <a:cs typeface="STSong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631490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2026-09-08T12:58:24.9730000Z</dcterms:created>
  <dcterms:modified xsi:type="dcterms:W3CDTF">2026-09-08T12:58:24.9730000Z</dcterms:modified>
</coreProperties>
</file>