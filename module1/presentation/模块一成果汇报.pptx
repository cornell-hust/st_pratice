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D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187075"/>
            <a:ext cx="12192000" cy="669147"/>
          </a:xfrm>
          <a:prstGeom prst="rect">
            <a:avLst/>
          </a:prstGeom>
          <a:solidFill>
            <a:srgbClr val="2B4D89"/>
          </a:solidFill>
          <a:ln>
            <a:solidFill>
              <a:srgbClr val="2B4D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188853"/>
            <a:ext cx="12192000" cy="669147"/>
          </a:xfrm>
          <a:prstGeom prst="rect">
            <a:avLst/>
          </a:prstGeom>
          <a:solidFill>
            <a:srgbClr val="2B4D89"/>
          </a:solidFill>
          <a:ln>
            <a:solidFill>
              <a:srgbClr val="2B4D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2200312"/>
            <a:ext cx="9144000" cy="1570847"/>
          </a:xfrm>
        </p:spPr>
        <p:txBody>
          <a:bodyPr anchor="b">
            <a:normAutofit/>
          </a:bodyPr>
          <a:lstStyle>
            <a:lvl1pPr algn="ctr">
              <a:defRPr sz="5400"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415647"/>
            <a:ext cx="9144000" cy="84215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Picture 2" descr="http://info.hust.edu.cn/download/HUSTXiaohui(s).gif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22288" y="419100"/>
            <a:ext cx="15255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9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2139950" y="549275"/>
            <a:ext cx="26495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文本框 10"/>
          <p:cNvSpPr txBox="1"/>
          <p:nvPr userDrawn="1"/>
        </p:nvSpPr>
        <p:spPr>
          <a:xfrm>
            <a:off x="2158349" y="1107795"/>
            <a:ext cx="46101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accent5"/>
                </a:solidFill>
                <a:latin typeface="Times New Roman" panose="02020603050405020304" charset="0"/>
                <a:ea typeface="微软雅黑" panose="020B0503020204020204" pitchFamily="34" charset="-122"/>
              </a:rPr>
              <a:t>Huazhong University of Science &amp; Technology</a:t>
            </a:r>
            <a:endParaRPr lang="en-US" altLang="zh-CN" sz="1200" b="1" dirty="0">
              <a:solidFill>
                <a:schemeClr val="accent5"/>
              </a:solidFill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838200" y="4129335"/>
            <a:ext cx="10515600" cy="55097"/>
          </a:xfrm>
          <a:prstGeom prst="rect">
            <a:avLst/>
          </a:prstGeom>
          <a:solidFill>
            <a:srgbClr val="2B4D89"/>
          </a:solidFill>
          <a:ln>
            <a:solidFill>
              <a:srgbClr val="2B4D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副标题 2"/>
          <p:cNvSpPr txBox="1"/>
          <p:nvPr userDrawn="1"/>
        </p:nvSpPr>
        <p:spPr>
          <a:xfrm>
            <a:off x="150329" y="6342509"/>
            <a:ext cx="2511552" cy="446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>
                  <a:lumMod val="95000"/>
                </a:schemeClr>
              </a:solidFill>
              <a:latin typeface="Copperplate Gothic Bold" panose="020E07050202060204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副标题 2"/>
          <p:cNvSpPr txBox="1"/>
          <p:nvPr userDrawn="1"/>
        </p:nvSpPr>
        <p:spPr>
          <a:xfrm>
            <a:off x="-1" y="6315633"/>
            <a:ext cx="2464657" cy="446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HUST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Copperplate Gothic Bold" panose="020E0705020206020404" pitchFamily="34" charset="0"/>
              <a:cs typeface="Segoe UI" panose="020B0502040204020203" pitchFamily="34" charset="0"/>
            </a:endParaRPr>
          </a:p>
        </p:txBody>
      </p:sp>
      <p:pic>
        <p:nvPicPr>
          <p:cNvPr id="900" name="华中科技大学软件学院院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528" y="461772"/>
            <a:ext cx="960120" cy="9601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octor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94641"/>
            <a:ext cx="10515600" cy="797675"/>
          </a:xfrm>
        </p:spPr>
        <p:txBody>
          <a:bodyPr>
            <a:normAutofit/>
          </a:bodyPr>
          <a:lstStyle>
            <a:lvl1pPr>
              <a:defRPr sz="3600"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/>
              <a:t> 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7424"/>
            <a:ext cx="10515600" cy="48689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latin typeface="Georgia" panose="02040502050405020303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838200" y="1031123"/>
            <a:ext cx="10515600" cy="82180"/>
          </a:xfrm>
          <a:prstGeom prst="rect">
            <a:avLst/>
          </a:prstGeom>
          <a:gradFill flip="none" rotWithShape="1">
            <a:gsLst>
              <a:gs pos="0">
                <a:srgbClr val="2B4D89"/>
              </a:gs>
              <a:gs pos="66000">
                <a:srgbClr val="4C6BA4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854356" y="73974"/>
            <a:ext cx="1185244" cy="912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Copperplate Gothic Bold" panose="020E0705020206020404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HUST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Copperplate Gothic Bold" panose="020E0705020206020404" pitchFamily="34" charset="0"/>
              <a:cs typeface="Segoe UI" panose="020B0502040204020203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29C74-51AE-4812-A996-5CFE575354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4810D-0C2A-4D7D-93F4-091B1D3DE4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模块一测试实践：croniter 6.2.2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1800"/>
              <a:t>我玩剩下的你以为是</a:t>
            </a:r>
            <a:r>
              <a:rPr lang="en-US" altLang="zh-CN" sz="1800"/>
              <a:t>SOTA </a:t>
            </a:r>
            <a:r>
              <a:rPr sz="1800"/>
              <a:t>小组</a:t>
            </a:r>
            <a:endParaRPr sz="1800"/>
          </a:p>
          <a:p>
            <a:r>
              <a:rPr sz="1800"/>
              <a:t>2026-09-10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一、被测对象与核心功能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二、主要测试策略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三、自动化测试设计与实施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四、测试结论与质量评估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被测对象：croniter 6.2.2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定位：Python 定时规则计算库——把 cron 表达式翻译成具体触发时刻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核心功能（五大能力）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解析：</a:t>
            </a:r>
            <a:r>
              <a:rPr lang="en-US" sz="1500" b="0">
                <a:solidFill>
                  <a:srgbClr val="333333"/>
                </a:solidFill>
              </a:rPr>
              <a:t>croniter </a:t>
            </a:r>
            <a:r>
              <a:rPr sz="1500" b="0">
                <a:solidFill>
                  <a:srgbClr val="333333"/>
                </a:solidFill>
              </a:rPr>
              <a:t>表达式，支持范围 / 步长 / 枚举 / 别名（@daily）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迭代：get_next / get_prev 计算下一次、上一次触发时间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范围：croniter_range 枚举时间段内全部触发点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匹配：match / match_range 判断时刻或时段是否符合规则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校验：is_valid 判断表达式合法性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时区与夏令时：正确处理 DST、闰年、月末等边界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版本与来源：6.2.2，上游 pallets-eco/croniter（MIT），源码快照固定于 </a:t>
            </a:r>
            <a:r>
              <a:rPr lang="en-US" sz="1800" b="1">
                <a:solidFill>
                  <a:srgbClr val="1F4E79"/>
                </a:solidFill>
              </a:rPr>
              <a:t>subject</a:t>
            </a:r>
            <a:r>
              <a:rPr sz="1800" b="1">
                <a:solidFill>
                  <a:srgbClr val="1F4E79"/>
                </a:solidFill>
              </a:rPr>
              <a:t>/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架构概览与关键模块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单包两模块，共 1537 行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croniter/__init__.py —— 41 行：公共 API 再导出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croniter/croniter.py —— 1496 行：全部业务实现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核心方法：get_next / get_prev、is_valid、match / match_range、expand、croniter_range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异常体系：CroniterError 及 5 个子类，非法规则统一抛 CroniterBadCronError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模块定位：核心模块即系统唯一业务核心，覆盖它即覆盖全部核心行为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运行时依赖：python-dateutil（唯一外部依赖）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主要测试策略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总体思路：黑盒功能方法为主体，白盒分析为补充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黑盒方法（用例设计）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等价类划分 17 条：合法/非法表达式、匹配命中/未命中等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边界值分析 17 条：分/时/日/月最大值、闰年、周日、夏令时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场景法 6 条：连续迭代、跨日跨月、窗口触发序列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白盒方法（充分性与验证）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源码级根因定位 + 基线/修复双版本对照验证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测试范围：40 条用例全部通过公开 API 黑盒驱动，不依赖内部实现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典型用例设计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CRON-UT-017（59 23 31 12 *）：一条用例同时踩中分、时、日、月最大值与跨年边界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CRON-UT-016（0 0 29 2 *）：闰年 2 月 29 日，起点为平年 2023，验证跨年搜索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CRON-UT-045/046</a:t>
            </a:r>
            <a:r>
              <a:rPr lang="zh-CN" altLang="en-US" sz="1800" b="1">
                <a:solidFill>
                  <a:srgbClr val="1F4E79"/>
                </a:solidFill>
              </a:rPr>
              <a:t>（</a:t>
            </a:r>
            <a:r>
              <a:rPr lang="en-US" altLang="zh-CN" sz="1800" b="1">
                <a:solidFill>
                  <a:srgbClr val="1F4E79"/>
                </a:solidFill>
              </a:rPr>
              <a:t>0 0 * * *</a:t>
            </a:r>
            <a:r>
              <a:rPr lang="zh-CN" altLang="en-US" sz="1800" b="1">
                <a:solidFill>
                  <a:srgbClr val="1F4E79"/>
                </a:solidFill>
              </a:rPr>
              <a:t>）</a:t>
            </a:r>
            <a:r>
              <a:rPr sz="1800" b="1">
                <a:solidFill>
                  <a:srgbClr val="1F4E79"/>
                </a:solidFill>
              </a:rPr>
              <a:t>：</a:t>
            </a:r>
            <a:r>
              <a:rPr lang="zh-CN" sz="1800" b="1">
                <a:solidFill>
                  <a:srgbClr val="1F4E79"/>
                </a:solidFill>
              </a:rPr>
              <a:t>每天</a:t>
            </a:r>
            <a:r>
              <a:rPr lang="en-US" altLang="zh-CN" sz="1800" b="1">
                <a:solidFill>
                  <a:srgbClr val="1F4E79"/>
                </a:solidFill>
              </a:rPr>
              <a:t> 0 </a:t>
            </a:r>
            <a:r>
              <a:rPr lang="zh-CN" altLang="en-US" sz="1800" b="1">
                <a:solidFill>
                  <a:srgbClr val="1F4E79"/>
                </a:solidFill>
              </a:rPr>
              <a:t>点，</a:t>
            </a:r>
            <a:r>
              <a:rPr lang="en-US" altLang="zh-CN" sz="1800" b="1">
                <a:solidFill>
                  <a:srgbClr val="1F4E79"/>
                </a:solidFill>
              </a:rPr>
              <a:t>​2024-01-01T00:00:00+00:00</a:t>
            </a:r>
            <a:r>
              <a:rPr lang="zh-CN" altLang="en-US" sz="1800" b="1">
                <a:solidFill>
                  <a:srgbClr val="1F4E79"/>
                </a:solidFill>
              </a:rPr>
              <a:t>，</a:t>
            </a:r>
            <a:r>
              <a:rPr lang="en-US" altLang="zh-CN" sz="1800" b="1">
                <a:solidFill>
                  <a:srgbClr val="1F4E79"/>
                </a:solidFill>
              </a:rPr>
              <a:t>2024-01-01T00:01:00+00:00 </a:t>
            </a:r>
            <a:r>
              <a:rPr lang="zh-CN" altLang="en-US" sz="1800" b="1">
                <a:solidFill>
                  <a:srgbClr val="1F4E79"/>
                </a:solidFill>
              </a:rPr>
              <a:t>分别</a:t>
            </a:r>
            <a:r>
              <a:rPr sz="1800" b="1">
                <a:solidFill>
                  <a:srgbClr val="1F4E79"/>
                </a:solidFill>
              </a:rPr>
              <a:t>在触发点与触发点后 1 分钟，两个等价类代表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CRON-UT-043：夏令时切换日前一天，验证 02:00 时区与偏移正确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CRON-UT-</a:t>
            </a:r>
            <a:r>
              <a:rPr lang="en-US" sz="1800" b="1">
                <a:solidFill>
                  <a:srgbClr val="1F4E79"/>
                </a:solidFill>
              </a:rPr>
              <a:t>033/</a:t>
            </a:r>
            <a:r>
              <a:rPr sz="1800" b="1">
                <a:solidFill>
                  <a:srgbClr val="1F4E79"/>
                </a:solidFill>
              </a:rPr>
              <a:t>034/035：历史缺陷回归，expand_from_start_time 月份/Sunday 低界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自动化测试设计：数据驱动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框架：pytest 9.1.1（参数化 + 断言）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单一数据源：全部用例集中在 testdata/cron_cases.json（40 条）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每条记录自带编号、设计方法、输入、预期与可选开关字段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测试代码不写死任何用例数据——改用例只改 JSON，代码零改动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参数化：@pytest.mark.parametrize 自动展开为 40 个测试项，ids 即用例编号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外部依赖处理：被测对象为纯计算库，无 Mock/Stub 需求；以路径注入实现版本隔离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口径对齐：账本（JSON）/ 附录一清单（Excel）/ 需求追踪矩阵共用同一套编号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自动化</a:t>
            </a:r>
            <a:r>
              <a:rPr lang="zh-CN"/>
              <a:t>测试</a:t>
            </a:r>
            <a:r>
              <a:t>实施：结构与运行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目录结构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tests/conftest.py —— 将被测源码 </a:t>
            </a:r>
            <a:r>
              <a:rPr lang="en-US" sz="1500" b="0">
                <a:solidFill>
                  <a:srgbClr val="333333"/>
                </a:solidFill>
              </a:rPr>
              <a:t>subject</a:t>
            </a:r>
            <a:r>
              <a:rPr sz="1500" b="0">
                <a:solidFill>
                  <a:srgbClr val="333333"/>
                </a:solidFill>
              </a:rPr>
              <a:t>/ 注入 sys.path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tests/test_croniter.py —— 3 个参数化函数承载全部 40 条用例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testdata/cron_cases.json —— 用例账本（单一数据源）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subject/ 与 baseline/ —— 修复后、修复前源码快照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运行命令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python -m pytest -q</a:t>
            </a:r>
            <a:r>
              <a:rPr lang="en-US" sz="1500" b="0">
                <a:solidFill>
                  <a:srgbClr val="333333"/>
                </a:solidFill>
              </a:rPr>
              <a:t>	</a:t>
            </a:r>
            <a:r>
              <a:rPr sz="1500" b="0">
                <a:solidFill>
                  <a:srgbClr val="333333"/>
                </a:solidFill>
              </a:rPr>
              <a:t># 全量执行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缺陷验证：注入路径指向 baseline/，同一套用例即可复现缺陷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执行结果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55448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  <a:gridCol w="1645920"/>
                <a:gridCol w="1645920"/>
                <a:gridCol w="173736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被测模块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用例数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通过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失败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通过率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表达式解析与构造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12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12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触发时间迭代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17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17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连续迭代场景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5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5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匹配与范围校验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6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6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0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1400" b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合计</a:t>
                      </a:r>
                      <a:endParaRPr sz="1400" b="1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40</a:t>
                      </a:r>
                      <a:endParaRPr sz="1400" b="1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40</a:t>
                      </a:r>
                      <a:endParaRPr sz="1400" b="1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0</a:t>
                      </a:r>
                      <a:endParaRPr sz="1400" b="1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</a:rPr>
                        <a:t>100%</a:t>
                      </a:r>
                      <a:endParaRPr sz="1400" b="1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4297680"/>
            <a:ext cx="105156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C0504D"/>
                </a:solidFill>
              </a:rPr>
              <a:t>基线版本（修复前）同一测试集：37 通过 / 3 失败（92.5%），失败恰为三个历史缺陷用例</a:t>
            </a:r>
            <a:endParaRPr sz="1600" b="1">
              <a:solidFill>
                <a:srgbClr val="C0504D"/>
              </a:solidFill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三个历史缺陷：基线失败 → 修复后全部通过，缺陷检测能力可随时一键复验</a:t>
            </a:r>
            <a:endParaRPr sz="16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历史缺陷闭环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CRON-D-001 零步长 5-5/0：基线抛裸 ValueError → 修复为标准 CroniterBadCronError（CRON-UT-033）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CRON-D-002 月份低界 0 0 1 */2 *：基线报 out of range → 修复后返回 04-01 起序列（CRON-UT-034）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CRON-D-003 Sunday 相位 0 0 * * 1-7/2：基线错位一天（01-08 起）→ 修复后 01-09 起（CRON-UT-035）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闭环流程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上游公开记录 → 基线手工复现→ </a:t>
            </a:r>
            <a:r>
              <a:rPr lang="zh-CN" sz="1500" b="0">
                <a:solidFill>
                  <a:srgbClr val="333333"/>
                </a:solidFill>
              </a:rPr>
              <a:t>对比修复版本</a:t>
            </a:r>
            <a:r>
              <a:rPr lang="en-US" altLang="zh-CN" sz="1500" b="0">
                <a:solidFill>
                  <a:srgbClr val="333333"/>
                </a:solidFill>
              </a:rPr>
              <a:t> </a:t>
            </a:r>
            <a:r>
              <a:rPr sz="1500">
                <a:solidFill>
                  <a:srgbClr val="333333"/>
                </a:solidFill>
                <a:sym typeface="+mn-ea"/>
              </a:rPr>
              <a:t>→</a:t>
            </a:r>
            <a:r>
              <a:rPr lang="en-US" sz="1500">
                <a:solidFill>
                  <a:srgbClr val="333333"/>
                </a:solidFill>
                <a:sym typeface="+mn-ea"/>
              </a:rPr>
              <a:t> </a:t>
            </a:r>
            <a:r>
              <a:rPr sz="1500" b="0">
                <a:solidFill>
                  <a:srgbClr val="333333"/>
                </a:solidFill>
              </a:rPr>
              <a:t>源码根因定位</a:t>
            </a:r>
            <a:endParaRPr sz="1500" b="0">
              <a:solidFill>
                <a:srgbClr val="333333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→ 自动化回归固化（基线失败 / 修复后通过）</a:t>
            </a:r>
            <a:endParaRPr sz="1500" b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测试结论与质量评估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croniter 6.2.2 原版：不适合发布——3 个已证实缺陷，含 1 个静默返回错误时间的高严重度问题</a:t>
            </a:r>
            <a:endParaRPr sz="1800" b="1">
              <a:solidFill>
                <a:srgbClr val="1F4E79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6.2.2 + 本地修复</a:t>
            </a:r>
            <a:r>
              <a:rPr sz="1800" b="1">
                <a:solidFill>
                  <a:srgbClr val="1F4E79"/>
                </a:solidFill>
              </a:rPr>
              <a:t>：核心功能达标，有条件发布</a:t>
            </a:r>
            <a:endParaRPr sz="1800" b="1">
              <a:solidFill>
                <a:srgbClr val="1F4E79"/>
              </a:solidFill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核心链路 40/40 通过，三个缺陷完成复现—修复—回归闭环</a:t>
            </a:r>
            <a:endParaRPr sz="1500" b="0">
              <a:solidFill>
                <a:srgbClr val="333333"/>
              </a:solidFill>
            </a:endParaR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交付物：附录一用例清单 / 附录二缺陷报告 / 附录三测试报告 / 自动化测试代码</a:t>
            </a:r>
            <a:endParaRPr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lang="zh-CN" altLang="en-US" sz="1800" b="1">
                <a:solidFill>
                  <a:srgbClr val="1F4E79"/>
                </a:solidFill>
              </a:rPr>
              <a:t>我玩剩下的你以为是</a:t>
            </a:r>
            <a:r>
              <a:rPr lang="en-US" altLang="zh-CN" sz="1800" b="1">
                <a:solidFill>
                  <a:srgbClr val="1F4E79"/>
                </a:solidFill>
              </a:rPr>
              <a:t>SOTA </a:t>
            </a:r>
            <a:r>
              <a:rPr sz="1800" b="1">
                <a:solidFill>
                  <a:srgbClr val="1F4E79"/>
                </a:solidFill>
              </a:rPr>
              <a:t>小组 · 2026-09-1</a:t>
            </a:r>
            <a:r>
              <a:rPr lang="en-US" sz="1800" b="1">
                <a:solidFill>
                  <a:srgbClr val="1F4E79"/>
                </a:solidFill>
              </a:rPr>
              <a:t>4</a:t>
            </a:r>
            <a:endParaRPr lang="en-US" sz="1800" b="1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WVkMTdiNzI2MTY5M2I3OWIxYzlmZWFjMDAwNjBjYmIifQ=="/>
  <p:tag name="resource_record_key" val="{&quot;13&quot;:[19951196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WPS 演示</Application>
  <PresentationFormat>宽屏</PresentationFormat>
  <Paragraphs>159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Georgia</vt:lpstr>
      <vt:lpstr>微软雅黑</vt:lpstr>
      <vt:lpstr>Times New Roman</vt:lpstr>
      <vt:lpstr>Copperplate Gothic Bold</vt:lpstr>
      <vt:lpstr>Segoe UI</vt:lpstr>
      <vt:lpstr>Segoe Print</vt:lpstr>
      <vt:lpstr>Segoe UI Black</vt:lpstr>
      <vt:lpstr>等线</vt:lpstr>
      <vt:lpstr>Arial Unicode MS</vt:lpstr>
      <vt:lpstr>等线 Light</vt:lpstr>
      <vt:lpstr>Calibri</vt:lpstr>
      <vt:lpstr>Office 主题​​</vt:lpstr>
      <vt:lpstr>模块一测试实践：croniter 6.2.2</vt:lpstr>
      <vt:lpstr>汇报提纲</vt:lpstr>
      <vt:lpstr>被测对象：croniter 6.2.2</vt:lpstr>
      <vt:lpstr>架构概览与关键模块</vt:lpstr>
      <vt:lpstr>主要测试策略</vt:lpstr>
      <vt:lpstr>典型用例设计</vt:lpstr>
      <vt:lpstr>自动化测试设计：数据驱动</vt:lpstr>
      <vt:lpstr>自动化测试实施：结构与运行</vt:lpstr>
      <vt:lpstr>执行结果</vt:lpstr>
      <vt:lpstr>历史缺陷闭环</vt:lpstr>
      <vt:lpstr>测试结论与质量评估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Doctor 罗</dc:creator>
  <cp:lastModifiedBy>我吃火龙果</cp:lastModifiedBy>
  <cp:revision>307</cp:revision>
  <dcterms:created xsi:type="dcterms:W3CDTF">2021-05-15T12:26:00Z</dcterms:created>
  <dcterms:modified xsi:type="dcterms:W3CDTF">2026-09-14T02:17:29Z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A10B88A3A18D4B26B6FF616972FA2C4F_13</vt:lpwstr>
  </property>
  <property fmtid="{D5CDD505-2E9C-101B-9397-08002B2CF9AE}" pid="3" name="KSOProductBuildVer">
    <vt:lpwstr>2052-12.1.0.28505</vt:lpwstr>
  </property>
</Properties>
</file>